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  <p:embeddedFont>
      <p:font typeface="Maven Pro Medium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BA9D88-0887-4ED1-961B-C09683942C0B}">
  <a:tblStyle styleId="{B4BA9D88-0887-4ED1-961B-C09683942C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avenPro-bold.fntdata"/><Relationship Id="rId23" Type="http://schemas.openxmlformats.org/officeDocument/2006/relationships/font" Target="fonts/Maven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avenProMedium-bold.fntdata"/><Relationship Id="rId25" Type="http://schemas.openxmlformats.org/officeDocument/2006/relationships/font" Target="fonts/MavenPr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Nuni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3b1b1269f_0_2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3b1b1269f_0_2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3b1b1269f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3b1b1269f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3b1b1269f_0_2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3b1b1269f_0_2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3b1b1269f_0_2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3b1b1269f_0_2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3b1b1269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3b1b126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3b1b1269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3b1b1269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3b1b1269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3b1b1269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3b1b1269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3b1b1269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44eef4cd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44eef4cd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44eef4c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44eef4c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44eef4c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44eef4c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85100" y="127875"/>
            <a:ext cx="8773800" cy="79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Electricity Consumption Prediction using Machine Learning</a:t>
            </a:r>
            <a:endParaRPr sz="3000"/>
          </a:p>
        </p:txBody>
      </p:sp>
      <p:sp>
        <p:nvSpPr>
          <p:cNvPr id="278" name="Google Shape;278;p13"/>
          <p:cNvSpPr txBox="1"/>
          <p:nvPr/>
        </p:nvSpPr>
        <p:spPr>
          <a:xfrm>
            <a:off x="355225" y="1179300"/>
            <a:ext cx="8503800" cy="3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Submitted</a:t>
            </a:r>
            <a:r>
              <a:rPr lang="en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to</a:t>
            </a:r>
            <a:r>
              <a:rPr lang="en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: Dr. Kusum Bharti					</a:t>
            </a: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Submitted By</a:t>
            </a:r>
            <a:r>
              <a:rPr lang="en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: Gyanendra Mohan Patel</a:t>
            </a:r>
            <a:endParaRPr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			</a:t>
            </a:r>
            <a:r>
              <a:rPr lang="en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M.Tech (DA) - (25201807)</a:t>
            </a:r>
            <a:endParaRPr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457200" lvl="0" marL="4114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Subject</a:t>
            </a:r>
            <a:r>
              <a:rPr lang="en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: Statistical Computing</a:t>
            </a:r>
            <a:endParaRPr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0" y="1519247"/>
            <a:ext cx="1668975" cy="16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ctrTitle"/>
          </p:nvPr>
        </p:nvSpPr>
        <p:spPr>
          <a:xfrm>
            <a:off x="320326" y="301950"/>
            <a:ext cx="85206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 sz="3000"/>
              <a:t>Introduction</a:t>
            </a:r>
            <a:endParaRPr sz="3000"/>
          </a:p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824000" y="1060950"/>
            <a:ext cx="7647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Electricity consumption forecasting is a crucial task in the energy sector. Accurate prediction of energy usage helps in: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/>
              <a:t>Efficient load balancing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/>
              <a:t>Reducing energy wastage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/>
              <a:t>Dynamic pricing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/>
              <a:t>Optimizing smart meter operations</a:t>
            </a:r>
            <a:br>
              <a:rPr lang="en" sz="1400"/>
            </a:b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lang="en" sz="1400"/>
              <a:t>Improving power grid reliability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311700" y="301950"/>
            <a:ext cx="85206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2.  </a:t>
            </a:r>
            <a:r>
              <a:rPr lang="en" sz="3000"/>
              <a:t>Objective</a:t>
            </a:r>
            <a:endParaRPr sz="3000"/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824000" y="1060950"/>
            <a:ext cx="7647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main objective is to design and implement a predictive model that estimates electricity usage using input features such as:</a:t>
            </a: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68750"/>
              <a:buFont typeface="Arial"/>
              <a:buChar char="●"/>
            </a:pPr>
            <a:r>
              <a:rPr lang="en"/>
              <a:t>Temperature</a:t>
            </a:r>
            <a:br>
              <a:rPr lang="en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8750"/>
              <a:buFont typeface="Arial"/>
              <a:buChar char="●"/>
            </a:pPr>
            <a:r>
              <a:rPr lang="en"/>
              <a:t>Humidity</a:t>
            </a:r>
            <a:br>
              <a:rPr lang="en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8750"/>
              <a:buFont typeface="Arial"/>
              <a:buChar char="●"/>
            </a:pPr>
            <a:r>
              <a:rPr lang="en"/>
              <a:t>Time of day</a:t>
            </a:r>
            <a:br>
              <a:rPr lang="en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8750"/>
              <a:buFont typeface="Arial"/>
              <a:buChar char="●"/>
            </a:pPr>
            <a:r>
              <a:rPr lang="en"/>
              <a:t>Day of week</a:t>
            </a:r>
            <a:br>
              <a:rPr lang="en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8750"/>
              <a:buFont typeface="Arial"/>
              <a:buChar char="●"/>
            </a:pPr>
            <a:r>
              <a:rPr lang="en"/>
              <a:t>Number of active appliances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ctrTitle"/>
          </p:nvPr>
        </p:nvSpPr>
        <p:spPr>
          <a:xfrm>
            <a:off x="311700" y="301950"/>
            <a:ext cx="85206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</a:t>
            </a:r>
            <a:r>
              <a:rPr lang="en" sz="3000"/>
              <a:t>.  </a:t>
            </a:r>
            <a:r>
              <a:rPr lang="en" sz="3000"/>
              <a:t>Dataset Description</a:t>
            </a:r>
            <a:endParaRPr sz="3000"/>
          </a:p>
        </p:txBody>
      </p:sp>
      <p:sp>
        <p:nvSpPr>
          <p:cNvPr id="297" name="Google Shape;297;p16"/>
          <p:cNvSpPr txBox="1"/>
          <p:nvPr>
            <p:ph idx="1" type="subTitle"/>
          </p:nvPr>
        </p:nvSpPr>
        <p:spPr>
          <a:xfrm>
            <a:off x="824000" y="905775"/>
            <a:ext cx="76470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98" name="Google Shape;298;p16"/>
          <p:cNvGraphicFramePr/>
          <p:nvPr/>
        </p:nvGraphicFramePr>
        <p:xfrm>
          <a:off x="883500" y="106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{B4BA9D88-0887-4ED1-961B-C09683942C0B}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Feature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Temperature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Numerical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Outdoor temperature (5°C – 45°C)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Humidity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Numerical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Humidity percentage (20% – 90%)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TimeOfDay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Numerical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Hour of the day (0–23)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DayOfWeek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Numerical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Days 1–7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Active Appliances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Numerical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Count of appliances in use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99" name="Google Shape;299;p16"/>
          <p:cNvGraphicFramePr/>
          <p:nvPr/>
        </p:nvGraphicFramePr>
        <p:xfrm>
          <a:off x="883500" y="386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{B4BA9D88-0887-4ED1-961B-C09683942C0B}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EnergyUsage_kWh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Target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Electricity consumption in KWh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ctrTitle"/>
          </p:nvPr>
        </p:nvSpPr>
        <p:spPr>
          <a:xfrm>
            <a:off x="311700" y="301950"/>
            <a:ext cx="8520600" cy="75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4</a:t>
            </a:r>
            <a:r>
              <a:rPr lang="en" sz="3000"/>
              <a:t>.  Importance of Each Feature</a:t>
            </a:r>
            <a:endParaRPr sz="3000"/>
          </a:p>
        </p:txBody>
      </p: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824000" y="1060950"/>
            <a:ext cx="7647000" cy="35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emperature: High temperature → more AC usage.</a:t>
            </a:r>
            <a:b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4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Humidity: Higher humidity → more HVAC load.</a:t>
            </a:r>
            <a:b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4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Time of day: Electricity usage peaks during 7–10 AM and 6–10 PM.</a:t>
            </a:r>
            <a:b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4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Day of week: Weekends and weekdays show different load patterns.</a:t>
            </a:r>
            <a:b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4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>
                <a:latin typeface="Maven Pro Medium"/>
                <a:ea typeface="Maven Pro Medium"/>
                <a:cs typeface="Maven Pro Medium"/>
                <a:sym typeface="Maven Pro Medium"/>
              </a:rPr>
              <a:t>Active appliances: Directly increases power consumption.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5</a:t>
            </a:r>
            <a:r>
              <a:rPr lang="en" sz="3000"/>
              <a:t>.  </a:t>
            </a:r>
            <a:r>
              <a:rPr lang="en" sz="3000"/>
              <a:t>Feature Engineering</a:t>
            </a:r>
            <a:endParaRPr sz="3000"/>
          </a:p>
        </p:txBody>
      </p:sp>
      <p:sp>
        <p:nvSpPr>
          <p:cNvPr id="311" name="Google Shape;311;p18"/>
          <p:cNvSpPr txBox="1"/>
          <p:nvPr>
            <p:ph idx="1" type="subTitle"/>
          </p:nvPr>
        </p:nvSpPr>
        <p:spPr>
          <a:xfrm>
            <a:off x="824000" y="760150"/>
            <a:ext cx="7647000" cy="38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Feature engineering improves the quality of input data to boost model performance.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4000">
                <a:latin typeface="Maven Pro"/>
                <a:ea typeface="Maven Pro"/>
                <a:cs typeface="Maven Pro"/>
                <a:sym typeface="Maven Pro"/>
              </a:rPr>
              <a:t>4.1 Scaling</a:t>
            </a:r>
            <a:endParaRPr b="1" sz="4000">
              <a:latin typeface="Maven Pro"/>
              <a:ea typeface="Maven Pro"/>
              <a:cs typeface="Maven Pro"/>
              <a:sym typeface="Maven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Since features have different ranges, StandardScaler is used to standardize them.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500">
                <a:latin typeface="Maven Pro"/>
                <a:ea typeface="Maven Pro"/>
                <a:cs typeface="Maven Pro"/>
                <a:sym typeface="Maven Pro"/>
              </a:rPr>
              <a:t>4.2 Non-Linear Pattern Modeling</a:t>
            </a:r>
            <a:endParaRPr b="1" sz="3500">
              <a:latin typeface="Maven Pro"/>
              <a:ea typeface="Maven Pro"/>
              <a:cs typeface="Maven Pro"/>
              <a:sym typeface="Maven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A sinusoidal function is added: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3 * sin(2π * time_of_day / 24)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This represents daily electricity peak patterns: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84162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ven Pro Medium"/>
              <a:buChar char="●"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Morning peak</a:t>
            </a:r>
            <a:b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84162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ven Pro Medium"/>
              <a:buChar char="●"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Evening peak</a:t>
            </a:r>
            <a:b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500">
                <a:latin typeface="Maven Pro"/>
                <a:ea typeface="Maven Pro"/>
                <a:cs typeface="Maven Pro"/>
                <a:sym typeface="Maven Pro"/>
              </a:rPr>
              <a:t>4.3 Correlation Analysis</a:t>
            </a:r>
            <a:endParaRPr b="1" sz="35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A heatmap is used to find: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84162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ven Pro Medium"/>
              <a:buChar char="●"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Strongly related features</a:t>
            </a:r>
            <a:b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84162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ven Pro Medium"/>
              <a:buChar char="●"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Irrelevant or redundant features</a:t>
            </a:r>
            <a:b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500">
                <a:latin typeface="Maven Pro Medium"/>
                <a:ea typeface="Maven Pro Medium"/>
                <a:cs typeface="Maven Pro Medium"/>
                <a:sym typeface="Maven Pro Medium"/>
              </a:rPr>
              <a:t>This helps in reducing noise and improving prediction accuracy.</a:t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6</a:t>
            </a:r>
            <a:r>
              <a:rPr lang="en" sz="3000"/>
              <a:t>.  </a:t>
            </a:r>
            <a:r>
              <a:rPr lang="en" sz="3000"/>
              <a:t>Data Splitting Strategy</a:t>
            </a:r>
            <a:endParaRPr sz="3000"/>
          </a:p>
        </p:txBody>
      </p:sp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824000" y="746875"/>
            <a:ext cx="7647000" cy="39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 avoid overfitting and evaluate the model correctly: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70% Training Set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teaches the model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15% Validation Set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selects the best model &amp; parameters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15% Test Set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evaluates final model performance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70-15-15 split makes the model more robust and fair.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7</a:t>
            </a:r>
            <a:r>
              <a:rPr lang="en" sz="3000"/>
              <a:t>.  Model Used</a:t>
            </a:r>
            <a:endParaRPr sz="3000"/>
          </a:p>
        </p:txBody>
      </p:sp>
      <p:sp>
        <p:nvSpPr>
          <p:cNvPr id="323" name="Google Shape;323;p20"/>
          <p:cNvSpPr txBox="1"/>
          <p:nvPr>
            <p:ph idx="1" type="subTitle"/>
          </p:nvPr>
        </p:nvSpPr>
        <p:spPr>
          <a:xfrm>
            <a:off x="703225" y="718450"/>
            <a:ext cx="7647000" cy="39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Maven Pro"/>
                <a:ea typeface="Maven Pro"/>
                <a:cs typeface="Maven Pro"/>
                <a:sym typeface="Maven Pro"/>
              </a:rPr>
              <a:t>Linear Regression</a:t>
            </a:r>
            <a:endParaRPr b="1" sz="1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A simple and interpretable baseline model.</a:t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4572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Maven Pro"/>
                <a:ea typeface="Maven Pro"/>
                <a:cs typeface="Maven Pro"/>
                <a:sym typeface="Maven Pro"/>
              </a:rPr>
              <a:t>Advantages:</a:t>
            </a:r>
            <a:endParaRPr b="1" sz="1000">
              <a:latin typeface="Maven Pro"/>
              <a:ea typeface="Maven Pro"/>
              <a:cs typeface="Maven Pro"/>
              <a:sym typeface="Maven Pro"/>
            </a:endParaRPr>
          </a:p>
          <a:p>
            <a:pPr indent="-292100" lvl="0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Char char="●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Easy to understand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2100" lvl="0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Char char="●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Fast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2100" lvl="0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Char char="●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Good for linear relationships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Maven Pro"/>
                <a:ea typeface="Maven Pro"/>
                <a:cs typeface="Maven Pro"/>
                <a:sym typeface="Maven Pro"/>
              </a:rPr>
              <a:t>Random Forest Regressor</a:t>
            </a:r>
            <a:endParaRPr b="1" sz="10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An ensemble ML model that uses multiple decision trees.</a:t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45720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Maven Pro"/>
                <a:ea typeface="Maven Pro"/>
                <a:cs typeface="Maven Pro"/>
                <a:sym typeface="Maven Pro"/>
              </a:rPr>
              <a:t>Advantages:</a:t>
            </a:r>
            <a:endParaRPr b="1" sz="1000">
              <a:latin typeface="Maven Pro"/>
              <a:ea typeface="Maven Pro"/>
              <a:cs typeface="Maven Pro"/>
              <a:sym typeface="Maven Pro"/>
            </a:endParaRPr>
          </a:p>
          <a:p>
            <a:pPr indent="-2921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AutoNum type="alphaLcPeriod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Handles non-linear patterns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21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AutoNum type="alphaLcPeriod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Less prone to overfitting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21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AutoNum type="alphaLcPeriod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Works well with mixed features</a:t>
            </a:r>
            <a:b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2100" lvl="1" marL="91440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ven Pro Medium"/>
              <a:buAutoNum type="alphaLcPeriod"/>
            </a:pPr>
            <a:r>
              <a:rPr lang="en" sz="1000">
                <a:latin typeface="Maven Pro Medium"/>
                <a:ea typeface="Maven Pro Medium"/>
                <a:cs typeface="Maven Pro Medium"/>
                <a:sym typeface="Maven Pro Medium"/>
              </a:rPr>
              <a:t>High accuracy</a:t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3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000"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8</a:t>
            </a:r>
            <a:r>
              <a:rPr lang="en" sz="3000"/>
              <a:t>.  Model Evaluation</a:t>
            </a:r>
            <a:endParaRPr sz="3000"/>
          </a:p>
        </p:txBody>
      </p:sp>
      <p:sp>
        <p:nvSpPr>
          <p:cNvPr id="329" name="Google Shape;329;p21"/>
          <p:cNvSpPr txBox="1"/>
          <p:nvPr>
            <p:ph idx="1" type="subTitle"/>
          </p:nvPr>
        </p:nvSpPr>
        <p:spPr>
          <a:xfrm>
            <a:off x="824000" y="746875"/>
            <a:ext cx="7647000" cy="391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Maven Pro Medium"/>
                <a:ea typeface="Maven Pro Medium"/>
                <a:cs typeface="Maven Pro Medium"/>
                <a:sym typeface="Maven Pro Medium"/>
              </a:rPr>
              <a:t>8.1 MAE (Mean Absolute Error)</a:t>
            </a:r>
            <a:endParaRPr sz="13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  <a:t>Measures average absolute difference between predicted and actual values.</a:t>
            </a:r>
            <a:endParaRPr sz="11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Maven Pro Medium"/>
                <a:ea typeface="Maven Pro Medium"/>
                <a:cs typeface="Maven Pro Medium"/>
                <a:sym typeface="Maven Pro Medium"/>
              </a:rPr>
              <a:t>8.2 RMSE (Root Mean Squared Error)</a:t>
            </a:r>
            <a:endParaRPr sz="13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  <a:t>Penalizes larger errors more heavily.</a:t>
            </a:r>
            <a:b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</a:br>
            <a: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  <a:t> Good for energy consumption forecasting.</a:t>
            </a:r>
            <a:endParaRPr sz="11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latin typeface="Maven Pro Medium"/>
                <a:ea typeface="Maven Pro Medium"/>
                <a:cs typeface="Maven Pro Medium"/>
                <a:sym typeface="Maven Pro Medium"/>
              </a:rPr>
              <a:t>Performance observation:</a:t>
            </a:r>
            <a:endParaRPr sz="13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ven Pro Medium"/>
              <a:buChar char="●"/>
            </a:pPr>
            <a: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  <a:t>Random Forest performed better than Linear Regression</a:t>
            </a:r>
            <a:b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</a:br>
            <a:endParaRPr sz="11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Maven Pro Medium"/>
              <a:buChar char="●"/>
            </a:pPr>
            <a:r>
              <a:rPr lang="en" sz="1100">
                <a:latin typeface="Maven Pro Medium"/>
                <a:ea typeface="Maven Pro Medium"/>
                <a:cs typeface="Maven Pro Medium"/>
                <a:sym typeface="Maven Pro Medium"/>
              </a:rPr>
              <a:t>Shows ML captures non-linear energy patterns effectively</a:t>
            </a:r>
            <a:endParaRPr sz="11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9</a:t>
            </a:r>
            <a:r>
              <a:rPr lang="en" sz="3000"/>
              <a:t>.  Example </a:t>
            </a:r>
            <a:endParaRPr sz="3000"/>
          </a:p>
        </p:txBody>
      </p:sp>
      <p:sp>
        <p:nvSpPr>
          <p:cNvPr id="335" name="Google Shape;335;p22"/>
          <p:cNvSpPr txBox="1"/>
          <p:nvPr>
            <p:ph idx="1" type="subTitle"/>
          </p:nvPr>
        </p:nvSpPr>
        <p:spPr>
          <a:xfrm>
            <a:off x="816875" y="760150"/>
            <a:ext cx="7647000" cy="3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1EFFF"/>
              </a:solidFill>
              <a:highlight>
                <a:srgbClr val="19183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latin typeface="Maven Pro Medium"/>
              <a:ea typeface="Maven Pro Medium"/>
              <a:cs typeface="Maven Pro Medium"/>
              <a:sym typeface="Mave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Predicted Energy Usage (kWh): 50.21712910844981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6" name="Google Shape;336;p22"/>
          <p:cNvGraphicFramePr/>
          <p:nvPr/>
        </p:nvGraphicFramePr>
        <p:xfrm>
          <a:off x="952500" y="96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{B4BA9D88-0887-4ED1-961B-C09683942C0B}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Feature</a:t>
                      </a:r>
                      <a:endParaRPr b="1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Value</a:t>
                      </a:r>
                      <a:endParaRPr b="1"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Temperature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32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Humidity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55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TimeOfDay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18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DayOfWeek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Active Appliances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8</a:t>
                      </a:r>
                      <a:endParaRPr>
                        <a:solidFill>
                          <a:schemeClr val="lt1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/>
          <p:nvPr>
            <p:ph type="ctrTitle"/>
          </p:nvPr>
        </p:nvSpPr>
        <p:spPr>
          <a:xfrm>
            <a:off x="311700" y="301950"/>
            <a:ext cx="8520600" cy="5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10</a:t>
            </a:r>
            <a:r>
              <a:rPr lang="en" sz="3000"/>
              <a:t>.  </a:t>
            </a:r>
            <a:r>
              <a:rPr lang="en" sz="3000"/>
              <a:t>Benefits</a:t>
            </a:r>
            <a:endParaRPr sz="3000"/>
          </a:p>
        </p:txBody>
      </p:sp>
      <p:sp>
        <p:nvSpPr>
          <p:cNvPr id="342" name="Google Shape;342;p23"/>
          <p:cNvSpPr txBox="1"/>
          <p:nvPr>
            <p:ph idx="1" type="subTitle"/>
          </p:nvPr>
        </p:nvSpPr>
        <p:spPr>
          <a:xfrm>
            <a:off x="816875" y="760150"/>
            <a:ext cx="7647000" cy="38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Helps utility companies plan load distribution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Helps users track &amp; optimize electricity usage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Useful for designing smart grid systems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Can be integrated with home automation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Reduces electricity wastage and costs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ctrTitle"/>
          </p:nvPr>
        </p:nvSpPr>
        <p:spPr>
          <a:xfrm>
            <a:off x="824000" y="1613825"/>
            <a:ext cx="7516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